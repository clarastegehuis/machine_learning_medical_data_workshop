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9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9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E9FC3F-54DA-4DDB-B42C-BD5A806B330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2E69D6B-D6F3-40B8-A781-4868F709F4A8}">
      <dgm:prSet/>
      <dgm:spPr/>
      <dgm:t>
        <a:bodyPr/>
        <a:lstStyle/>
        <a:p>
          <a:r>
            <a:rPr lang="en-GB"/>
            <a:t>Je kunt uitleggen wat een matrix is.</a:t>
          </a:r>
          <a:endParaRPr lang="en-US"/>
        </a:p>
      </dgm:t>
    </dgm:pt>
    <dgm:pt modelId="{EB814F33-BF87-44C1-8C48-D22642986C3A}" type="parTrans" cxnId="{60A416C9-2717-40C6-BFA6-51AAA972628C}">
      <dgm:prSet/>
      <dgm:spPr/>
      <dgm:t>
        <a:bodyPr/>
        <a:lstStyle/>
        <a:p>
          <a:endParaRPr lang="en-US"/>
        </a:p>
      </dgm:t>
    </dgm:pt>
    <dgm:pt modelId="{C04003F5-BED4-44AF-BB5E-690CDF22667D}" type="sibTrans" cxnId="{60A416C9-2717-40C6-BFA6-51AAA972628C}">
      <dgm:prSet/>
      <dgm:spPr/>
      <dgm:t>
        <a:bodyPr/>
        <a:lstStyle/>
        <a:p>
          <a:endParaRPr lang="en-US"/>
        </a:p>
      </dgm:t>
    </dgm:pt>
    <dgm:pt modelId="{704A9BE1-B63D-4140-B1B5-268F0925A75E}">
      <dgm:prSet/>
      <dgm:spPr/>
      <dgm:t>
        <a:bodyPr/>
        <a:lstStyle/>
        <a:p>
          <a:r>
            <a:rPr lang="en-GB"/>
            <a:t>Je kunt een matrix toepassen in verschillende situaties.</a:t>
          </a:r>
          <a:endParaRPr lang="en-US"/>
        </a:p>
      </dgm:t>
    </dgm:pt>
    <dgm:pt modelId="{C575CF66-1886-47AC-A151-822F99ADCE3E}" type="parTrans" cxnId="{A901CF08-517C-4C9F-9CAD-DFD27744FF63}">
      <dgm:prSet/>
      <dgm:spPr/>
      <dgm:t>
        <a:bodyPr/>
        <a:lstStyle/>
        <a:p>
          <a:endParaRPr lang="en-US"/>
        </a:p>
      </dgm:t>
    </dgm:pt>
    <dgm:pt modelId="{AB488DDB-4EAB-484C-925E-57320907FA0E}" type="sibTrans" cxnId="{A901CF08-517C-4C9F-9CAD-DFD27744FF63}">
      <dgm:prSet/>
      <dgm:spPr/>
      <dgm:t>
        <a:bodyPr/>
        <a:lstStyle/>
        <a:p>
          <a:endParaRPr lang="en-US"/>
        </a:p>
      </dgm:t>
    </dgm:pt>
    <dgm:pt modelId="{2693E0CA-7A71-4228-BC2B-71AA7A8D3B2F}" type="pres">
      <dgm:prSet presAssocID="{BDE9FC3F-54DA-4DDB-B42C-BD5A806B3307}" presName="outerComposite" presStyleCnt="0">
        <dgm:presLayoutVars>
          <dgm:chMax val="5"/>
          <dgm:dir/>
          <dgm:resizeHandles val="exact"/>
        </dgm:presLayoutVars>
      </dgm:prSet>
      <dgm:spPr/>
    </dgm:pt>
    <dgm:pt modelId="{99962256-5D19-4DF0-AB9D-4362675182C9}" type="pres">
      <dgm:prSet presAssocID="{BDE9FC3F-54DA-4DDB-B42C-BD5A806B3307}" presName="dummyMaxCanvas" presStyleCnt="0">
        <dgm:presLayoutVars/>
      </dgm:prSet>
      <dgm:spPr/>
    </dgm:pt>
    <dgm:pt modelId="{CF805F15-2424-4F74-AD12-53C8D9B20321}" type="pres">
      <dgm:prSet presAssocID="{BDE9FC3F-54DA-4DDB-B42C-BD5A806B3307}" presName="TwoNodes_1" presStyleLbl="node1" presStyleIdx="0" presStyleCnt="2">
        <dgm:presLayoutVars>
          <dgm:bulletEnabled val="1"/>
        </dgm:presLayoutVars>
      </dgm:prSet>
      <dgm:spPr/>
    </dgm:pt>
    <dgm:pt modelId="{18473116-320A-4E5D-B685-29FDC0A17FCA}" type="pres">
      <dgm:prSet presAssocID="{BDE9FC3F-54DA-4DDB-B42C-BD5A806B3307}" presName="TwoNodes_2" presStyleLbl="node1" presStyleIdx="1" presStyleCnt="2">
        <dgm:presLayoutVars>
          <dgm:bulletEnabled val="1"/>
        </dgm:presLayoutVars>
      </dgm:prSet>
      <dgm:spPr/>
    </dgm:pt>
    <dgm:pt modelId="{D7769C06-888D-4FDC-B129-58CCD55C157C}" type="pres">
      <dgm:prSet presAssocID="{BDE9FC3F-54DA-4DDB-B42C-BD5A806B3307}" presName="TwoConn_1-2" presStyleLbl="fgAccFollowNode1" presStyleIdx="0" presStyleCnt="1">
        <dgm:presLayoutVars>
          <dgm:bulletEnabled val="1"/>
        </dgm:presLayoutVars>
      </dgm:prSet>
      <dgm:spPr/>
    </dgm:pt>
    <dgm:pt modelId="{848E4253-FE5F-498E-9468-AD3023F5304A}" type="pres">
      <dgm:prSet presAssocID="{BDE9FC3F-54DA-4DDB-B42C-BD5A806B3307}" presName="TwoNodes_1_text" presStyleLbl="node1" presStyleIdx="1" presStyleCnt="2">
        <dgm:presLayoutVars>
          <dgm:bulletEnabled val="1"/>
        </dgm:presLayoutVars>
      </dgm:prSet>
      <dgm:spPr/>
    </dgm:pt>
    <dgm:pt modelId="{0895BA7D-485C-42FD-A0A9-8512D23C132B}" type="pres">
      <dgm:prSet presAssocID="{BDE9FC3F-54DA-4DDB-B42C-BD5A806B3307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A901CF08-517C-4C9F-9CAD-DFD27744FF63}" srcId="{BDE9FC3F-54DA-4DDB-B42C-BD5A806B3307}" destId="{704A9BE1-B63D-4140-B1B5-268F0925A75E}" srcOrd="1" destOrd="0" parTransId="{C575CF66-1886-47AC-A151-822F99ADCE3E}" sibTransId="{AB488DDB-4EAB-484C-925E-57320907FA0E}"/>
    <dgm:cxn modelId="{A33D6934-5CC7-45C1-A29C-41B1A19F9278}" type="presOf" srcId="{C04003F5-BED4-44AF-BB5E-690CDF22667D}" destId="{D7769C06-888D-4FDC-B129-58CCD55C157C}" srcOrd="0" destOrd="0" presId="urn:microsoft.com/office/officeart/2005/8/layout/vProcess5"/>
    <dgm:cxn modelId="{3716CA69-0FBE-4169-A339-8D7099C7F42F}" type="presOf" srcId="{BDE9FC3F-54DA-4DDB-B42C-BD5A806B3307}" destId="{2693E0CA-7A71-4228-BC2B-71AA7A8D3B2F}" srcOrd="0" destOrd="0" presId="urn:microsoft.com/office/officeart/2005/8/layout/vProcess5"/>
    <dgm:cxn modelId="{5F35968F-8378-4502-BB59-21761A3AC567}" type="presOf" srcId="{22E69D6B-D6F3-40B8-A781-4868F709F4A8}" destId="{848E4253-FE5F-498E-9468-AD3023F5304A}" srcOrd="1" destOrd="0" presId="urn:microsoft.com/office/officeart/2005/8/layout/vProcess5"/>
    <dgm:cxn modelId="{73E09AA1-8483-4C4E-9C8C-C3B66383ECEA}" type="presOf" srcId="{22E69D6B-D6F3-40B8-A781-4868F709F4A8}" destId="{CF805F15-2424-4F74-AD12-53C8D9B20321}" srcOrd="0" destOrd="0" presId="urn:microsoft.com/office/officeart/2005/8/layout/vProcess5"/>
    <dgm:cxn modelId="{EBE448AF-5D24-4154-9096-C5C562808FA5}" type="presOf" srcId="{704A9BE1-B63D-4140-B1B5-268F0925A75E}" destId="{0895BA7D-485C-42FD-A0A9-8512D23C132B}" srcOrd="1" destOrd="0" presId="urn:microsoft.com/office/officeart/2005/8/layout/vProcess5"/>
    <dgm:cxn modelId="{60A416C9-2717-40C6-BFA6-51AAA972628C}" srcId="{BDE9FC3F-54DA-4DDB-B42C-BD5A806B3307}" destId="{22E69D6B-D6F3-40B8-A781-4868F709F4A8}" srcOrd="0" destOrd="0" parTransId="{EB814F33-BF87-44C1-8C48-D22642986C3A}" sibTransId="{C04003F5-BED4-44AF-BB5E-690CDF22667D}"/>
    <dgm:cxn modelId="{A8ED5BE7-459B-48D8-9083-AD5169E915C8}" type="presOf" srcId="{704A9BE1-B63D-4140-B1B5-268F0925A75E}" destId="{18473116-320A-4E5D-B685-29FDC0A17FCA}" srcOrd="0" destOrd="0" presId="urn:microsoft.com/office/officeart/2005/8/layout/vProcess5"/>
    <dgm:cxn modelId="{CE81F06D-3337-412E-9D2C-5476781FA87C}" type="presParOf" srcId="{2693E0CA-7A71-4228-BC2B-71AA7A8D3B2F}" destId="{99962256-5D19-4DF0-AB9D-4362675182C9}" srcOrd="0" destOrd="0" presId="urn:microsoft.com/office/officeart/2005/8/layout/vProcess5"/>
    <dgm:cxn modelId="{65ADA6F1-54CB-4B0C-A941-7F94B813250E}" type="presParOf" srcId="{2693E0CA-7A71-4228-BC2B-71AA7A8D3B2F}" destId="{CF805F15-2424-4F74-AD12-53C8D9B20321}" srcOrd="1" destOrd="0" presId="urn:microsoft.com/office/officeart/2005/8/layout/vProcess5"/>
    <dgm:cxn modelId="{D13F7423-058C-4666-AA5B-E415B1CC2C92}" type="presParOf" srcId="{2693E0CA-7A71-4228-BC2B-71AA7A8D3B2F}" destId="{18473116-320A-4E5D-B685-29FDC0A17FCA}" srcOrd="2" destOrd="0" presId="urn:microsoft.com/office/officeart/2005/8/layout/vProcess5"/>
    <dgm:cxn modelId="{F077E02B-7BC6-4ED4-8A7D-CBAD964B691B}" type="presParOf" srcId="{2693E0CA-7A71-4228-BC2B-71AA7A8D3B2F}" destId="{D7769C06-888D-4FDC-B129-58CCD55C157C}" srcOrd="3" destOrd="0" presId="urn:microsoft.com/office/officeart/2005/8/layout/vProcess5"/>
    <dgm:cxn modelId="{97B59EBB-E85F-4274-B134-AC5BD1B29A81}" type="presParOf" srcId="{2693E0CA-7A71-4228-BC2B-71AA7A8D3B2F}" destId="{848E4253-FE5F-498E-9468-AD3023F5304A}" srcOrd="4" destOrd="0" presId="urn:microsoft.com/office/officeart/2005/8/layout/vProcess5"/>
    <dgm:cxn modelId="{7EBE1C51-47A5-49DA-B78D-A08FEDDD2DDE}" type="presParOf" srcId="{2693E0CA-7A71-4228-BC2B-71AA7A8D3B2F}" destId="{0895BA7D-485C-42FD-A0A9-8512D23C132B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05F15-2424-4F74-AD12-53C8D9B20321}">
      <dsp:nvSpPr>
        <dsp:cNvPr id="0" name=""/>
        <dsp:cNvSpPr/>
      </dsp:nvSpPr>
      <dsp:spPr>
        <a:xfrm>
          <a:off x="0" y="0"/>
          <a:ext cx="8722360" cy="13984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Je kunt uitleggen wat een matrix is.</a:t>
          </a:r>
          <a:endParaRPr lang="en-US" sz="3800" kern="1200"/>
        </a:p>
      </dsp:txBody>
      <dsp:txXfrm>
        <a:off x="40960" y="40960"/>
        <a:ext cx="7276915" cy="1316566"/>
      </dsp:txXfrm>
    </dsp:sp>
    <dsp:sp modelId="{18473116-320A-4E5D-B685-29FDC0A17FCA}">
      <dsp:nvSpPr>
        <dsp:cNvPr id="0" name=""/>
        <dsp:cNvSpPr/>
      </dsp:nvSpPr>
      <dsp:spPr>
        <a:xfrm>
          <a:off x="1539239" y="1709261"/>
          <a:ext cx="8722360" cy="13984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Je kunt een matrix toepassen in verschillende situaties.</a:t>
          </a:r>
          <a:endParaRPr lang="en-US" sz="3800" kern="1200"/>
        </a:p>
      </dsp:txBody>
      <dsp:txXfrm>
        <a:off x="1580199" y="1750221"/>
        <a:ext cx="6192183" cy="1316566"/>
      </dsp:txXfrm>
    </dsp:sp>
    <dsp:sp modelId="{D7769C06-888D-4FDC-B129-58CCD55C157C}">
      <dsp:nvSpPr>
        <dsp:cNvPr id="0" name=""/>
        <dsp:cNvSpPr/>
      </dsp:nvSpPr>
      <dsp:spPr>
        <a:xfrm>
          <a:off x="7813343" y="1099365"/>
          <a:ext cx="909016" cy="909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17872" y="1099365"/>
        <a:ext cx="499958" cy="6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383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24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851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310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7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2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14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33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47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06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66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0B92708-EDD0-D142-B79A-CB6F4C35AFFB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50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C8DBC-A812-40A4-8350-E8A15FD29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8969" y="2386744"/>
            <a:ext cx="5928358" cy="1645920"/>
          </a:xfrm>
        </p:spPr>
        <p:txBody>
          <a:bodyPr>
            <a:normAutofit/>
          </a:bodyPr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Matrices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7E916F1-DEB0-4CC8-1E39-5BAC06D9F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8969" y="4352544"/>
            <a:ext cx="5928358" cy="1239894"/>
          </a:xfrm>
        </p:spPr>
        <p:txBody>
          <a:bodyPr>
            <a:normAutofit/>
          </a:bodyPr>
          <a:lstStyle/>
          <a:p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6BD670-DA9C-F33A-5462-A6ABB8A9F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" r="1414"/>
          <a:stretch>
            <a:fillRect/>
          </a:stretch>
        </p:blipFill>
        <p:spPr bwMode="auto">
          <a:xfrm>
            <a:off x="20" y="10"/>
            <a:ext cx="465427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56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2A1A9E-FC67-EFA3-6ECA-2B098A91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Leerdoelen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558B4427-E5C3-B914-B67F-981D69E998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0349694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672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FDFAA6-DE4A-99F1-5A0A-317BE179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Voorkennis</a:t>
            </a: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EF2B4C3-127E-C8D3-B27B-4063446BC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1825" y="2427221"/>
                <a:ext cx="4344669" cy="3809803"/>
              </a:xfrm>
            </p:spPr>
            <p:txBody>
              <a:bodyPr>
                <a:normAutofit/>
              </a:bodyPr>
              <a:lstStyle/>
              <a:p>
                <a:r>
                  <a:rPr lang="en-GB" b="1" dirty="0">
                    <a:solidFill>
                      <a:schemeClr val="accent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Vector</a:t>
                </a:r>
                <a: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GB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lijnstuk</a:t>
                </a:r>
                <a: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met </a:t>
                </a:r>
                <a:r>
                  <a:rPr lang="en-GB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een</a:t>
                </a:r>
                <a: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 err="1">
                    <a:solidFill>
                      <a:schemeClr val="accent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richting</a:t>
                </a:r>
                <a: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(met 2 of </a:t>
                </a:r>
                <a:r>
                  <a:rPr lang="en-GB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meer</a:t>
                </a:r>
                <a: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elementen</a:t>
                </a:r>
                <a: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GB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mPr>
                      <m:mr>
                        <m:e/>
                      </m:mr>
                      <m:mr>
                        <m:e/>
                      </m:mr>
                    </m:m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GB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mPr>
                      <m:mr>
                        <m:e/>
                      </m:mr>
                      <m:mr>
                        <m:e/>
                      </m:mr>
                    </m:m>
                    <m:acc>
                      <m:accPr>
                        <m:chr m:val="⃗"/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</m:acc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, 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</m:acc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br>
                  <a:rPr lang="en-GB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GB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mPr>
                      <m:mr>
                        <m:e/>
                      </m:mr>
                      <m:mr>
                        <m:e/>
                      </m:mr>
                    </m:m>
                    <m:acc>
                      <m:accPr>
                        <m:chr m:val="⃗"/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acc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mPr>
                      <m:mr>
                        <m:e/>
                      </m:mr>
                      <m:mr>
                        <m:e/>
                      </m:mr>
                    </m:m>
                    <m:acc>
                      <m:accPr>
                        <m:chr m:val="⃗"/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acc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GB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acc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⋅</m:t>
                                  </m:r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⋅</m:t>
                                  </m:r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GB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EF2B4C3-127E-C8D3-B27B-4063446BC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825" y="2427221"/>
                <a:ext cx="4344669" cy="3809803"/>
              </a:xfrm>
              <a:blipFill>
                <a:blip r:embed="rId2"/>
                <a:stretch>
                  <a:fillRect l="-983" t="-800" r="-1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59D9DCB2-923D-93AB-8175-FD4381471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92" y="876801"/>
            <a:ext cx="5449889" cy="5104394"/>
          </a:xfrm>
          <a:prstGeom prst="rect">
            <a:avLst/>
          </a:prstGeom>
          <a:effectLst/>
        </p:spPr>
      </p:pic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850EFB7B-AB54-11EF-DB9D-25A55CA8BA0F}"/>
              </a:ext>
            </a:extLst>
          </p:cNvPr>
          <p:cNvCxnSpPr>
            <a:cxnSpLocks/>
          </p:cNvCxnSpPr>
          <p:nvPr/>
        </p:nvCxnSpPr>
        <p:spPr>
          <a:xfrm>
            <a:off x="2186598" y="3543239"/>
            <a:ext cx="15544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Vierkante haken 25">
            <a:extLst>
              <a:ext uri="{FF2B5EF4-FFF2-40B4-BE49-F238E27FC236}">
                <a16:creationId xmlns:a16="http://schemas.microsoft.com/office/drawing/2014/main" id="{5E875EC7-7513-CACD-7C84-627DAA11B0D8}"/>
              </a:ext>
            </a:extLst>
          </p:cNvPr>
          <p:cNvSpPr/>
          <p:nvPr/>
        </p:nvSpPr>
        <p:spPr>
          <a:xfrm>
            <a:off x="1931403" y="5495344"/>
            <a:ext cx="783338" cy="741680"/>
          </a:xfrm>
          <a:prstGeom prst="bracketPair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751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5C384-7B98-FD62-1325-77A20B3E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Nieuwe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theorie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74B95773-1D9A-98D5-5991-8BD40402C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593938"/>
              </p:ext>
            </p:extLst>
          </p:nvPr>
        </p:nvGraphicFramePr>
        <p:xfrm>
          <a:off x="6837834" y="2696457"/>
          <a:ext cx="2014728" cy="111252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490728">
                  <a:extLst>
                    <a:ext uri="{9D8B030D-6E8A-4147-A177-3AD203B41FA5}">
                      <a16:colId xmlns:a16="http://schemas.microsoft.com/office/drawing/2014/main" val="4197559507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2150368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4903658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535725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9354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8681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8704538"/>
                  </a:ext>
                </a:extLst>
              </a:tr>
            </a:tbl>
          </a:graphicData>
        </a:graphic>
      </p:graphicFrame>
      <p:grpSp>
        <p:nvGrpSpPr>
          <p:cNvPr id="12" name="Groep 11">
            <a:extLst>
              <a:ext uri="{FF2B5EF4-FFF2-40B4-BE49-F238E27FC236}">
                <a16:creationId xmlns:a16="http://schemas.microsoft.com/office/drawing/2014/main" id="{09E5FA03-8567-D1DC-E9EF-F26096AB0677}"/>
              </a:ext>
            </a:extLst>
          </p:cNvPr>
          <p:cNvGrpSpPr/>
          <p:nvPr/>
        </p:nvGrpSpPr>
        <p:grpSpPr>
          <a:xfrm>
            <a:off x="6298904" y="2696457"/>
            <a:ext cx="2553658" cy="1112520"/>
            <a:chOff x="1174046" y="1701928"/>
            <a:chExt cx="2553658" cy="1112520"/>
          </a:xfrm>
        </p:grpSpPr>
        <p:sp>
          <p:nvSpPr>
            <p:cNvPr id="10" name="Vierkante haken 9">
              <a:extLst>
                <a:ext uri="{FF2B5EF4-FFF2-40B4-BE49-F238E27FC236}">
                  <a16:creationId xmlns:a16="http://schemas.microsoft.com/office/drawing/2014/main" id="{8EA1D758-F2FE-A8B1-9C25-BB4D749A8753}"/>
                </a:ext>
              </a:extLst>
            </p:cNvPr>
            <p:cNvSpPr/>
            <p:nvPr/>
          </p:nvSpPr>
          <p:spPr>
            <a:xfrm>
              <a:off x="1716024" y="1701928"/>
              <a:ext cx="2011680" cy="1112520"/>
            </a:xfrm>
            <a:prstGeom prst="bracketPair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0AD6D1E5-D14C-D518-7999-C61E45AEFD94}"/>
                </a:ext>
              </a:extLst>
            </p:cNvPr>
            <p:cNvSpPr txBox="1"/>
            <p:nvPr/>
          </p:nvSpPr>
          <p:spPr>
            <a:xfrm>
              <a:off x="1174046" y="2073522"/>
              <a:ext cx="588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Arial" panose="020B0604020202020204" pitchFamily="34" charset="0"/>
                  <a:cs typeface="Arial" panose="020B0604020202020204" pitchFamily="34" charset="0"/>
                </a:rPr>
                <a:t>A = </a:t>
              </a:r>
            </a:p>
          </p:txBody>
        </p:sp>
      </p:grpSp>
      <p:graphicFrame>
        <p:nvGraphicFramePr>
          <p:cNvPr id="14" name="Tabel 14">
            <a:extLst>
              <a:ext uri="{FF2B5EF4-FFF2-40B4-BE49-F238E27FC236}">
                <a16:creationId xmlns:a16="http://schemas.microsoft.com/office/drawing/2014/main" id="{987E4ED8-170F-F039-3E03-A5128CFF6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460525"/>
              </p:ext>
            </p:extLst>
          </p:nvPr>
        </p:nvGraphicFramePr>
        <p:xfrm>
          <a:off x="1065628" y="2658982"/>
          <a:ext cx="399231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8079">
                  <a:extLst>
                    <a:ext uri="{9D8B030D-6E8A-4147-A177-3AD203B41FA5}">
                      <a16:colId xmlns:a16="http://schemas.microsoft.com/office/drawing/2014/main" val="4085606712"/>
                    </a:ext>
                  </a:extLst>
                </a:gridCol>
                <a:gridCol w="998079">
                  <a:extLst>
                    <a:ext uri="{9D8B030D-6E8A-4147-A177-3AD203B41FA5}">
                      <a16:colId xmlns:a16="http://schemas.microsoft.com/office/drawing/2014/main" val="1871236644"/>
                    </a:ext>
                  </a:extLst>
                </a:gridCol>
                <a:gridCol w="998079">
                  <a:extLst>
                    <a:ext uri="{9D8B030D-6E8A-4147-A177-3AD203B41FA5}">
                      <a16:colId xmlns:a16="http://schemas.microsoft.com/office/drawing/2014/main" val="750791844"/>
                    </a:ext>
                  </a:extLst>
                </a:gridCol>
                <a:gridCol w="998079">
                  <a:extLst>
                    <a:ext uri="{9D8B030D-6E8A-4147-A177-3AD203B41FA5}">
                      <a16:colId xmlns:a16="http://schemas.microsoft.com/office/drawing/2014/main" val="3401251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83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1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593216"/>
                  </a:ext>
                </a:extLst>
              </a:tr>
            </a:tbl>
          </a:graphicData>
        </a:graphic>
      </p:graphicFrame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14297037-8172-7CE9-2DF1-A47ECF283B17}"/>
              </a:ext>
            </a:extLst>
          </p:cNvPr>
          <p:cNvCxnSpPr>
            <a:cxnSpLocks/>
          </p:cNvCxnSpPr>
          <p:nvPr/>
        </p:nvCxnSpPr>
        <p:spPr>
          <a:xfrm>
            <a:off x="5349240" y="3267643"/>
            <a:ext cx="6583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D7904794-B9E9-D5A8-3260-6253DD206911}"/>
              </a:ext>
            </a:extLst>
          </p:cNvPr>
          <p:cNvSpPr txBox="1"/>
          <p:nvPr/>
        </p:nvSpPr>
        <p:spPr>
          <a:xfrm>
            <a:off x="2559127" y="2232035"/>
            <a:ext cx="736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</a:t>
            </a:r>
            <a:endParaRPr lang="en-GB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0D6E2415-CA78-87D5-B808-E4AEEEB9F77D}"/>
              </a:ext>
            </a:extLst>
          </p:cNvPr>
          <p:cNvSpPr txBox="1"/>
          <p:nvPr/>
        </p:nvSpPr>
        <p:spPr>
          <a:xfrm>
            <a:off x="7438676" y="223203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A2DE8BE1-4CBB-BA90-7D70-6E6E77B0D972}"/>
              </a:ext>
            </a:extLst>
          </p:cNvPr>
          <p:cNvSpPr txBox="1"/>
          <p:nvPr/>
        </p:nvSpPr>
        <p:spPr>
          <a:xfrm>
            <a:off x="9256210" y="3030576"/>
            <a:ext cx="2339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 is een 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3 x 4 </a:t>
            </a:r>
            <a:r>
              <a:rPr lang="nl-NL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FEF439FA-EFD3-1984-0008-0D3FD1147F3F}"/>
              </a:ext>
            </a:extLst>
          </p:cNvPr>
          <p:cNvSpPr txBox="1"/>
          <p:nvPr/>
        </p:nvSpPr>
        <p:spPr>
          <a:xfrm>
            <a:off x="904322" y="3938016"/>
            <a:ext cx="3807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Elementen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= getallen in een matrix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5DD8CDE4-341D-E784-EFEE-3B7F33E19ED4}"/>
              </a:ext>
            </a:extLst>
          </p:cNvPr>
          <p:cNvSpPr txBox="1"/>
          <p:nvPr/>
        </p:nvSpPr>
        <p:spPr>
          <a:xfrm>
            <a:off x="5413248" y="3950208"/>
            <a:ext cx="636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Element a</a:t>
            </a:r>
            <a:r>
              <a:rPr lang="nl-NL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element op rij 1 en kolom 1, dus bijvoorbeeld a</a:t>
            </a:r>
            <a:r>
              <a:rPr lang="nl-NL" baseline="-25000" dirty="0"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= 2 in matrix 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77F0F746-B176-65FE-64D9-C779A91C6A06}"/>
                  </a:ext>
                </a:extLst>
              </p:cNvPr>
              <p:cNvSpPr txBox="1"/>
              <p:nvPr/>
            </p:nvSpPr>
            <p:spPr>
              <a:xfrm>
                <a:off x="5413248" y="5007641"/>
                <a:ext cx="4876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Korter: A = (</a:t>
                </a:r>
                <a:r>
                  <a:rPr lang="nl-NL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nl-NL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) waarbij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nl-NL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en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≤4</m:t>
                    </m:r>
                  </m:oMath>
                </a14:m>
                <a:r>
                  <a:rPr lang="nl-NL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.</a:t>
                </a:r>
                <a:endParaRPr lang="nl-NL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77F0F746-B176-65FE-64D9-C779A91C6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248" y="5007641"/>
                <a:ext cx="4876848" cy="369332"/>
              </a:xfrm>
              <a:prstGeom prst="rect">
                <a:avLst/>
              </a:prstGeom>
              <a:blipFill>
                <a:blip r:embed="rId2"/>
                <a:stretch>
                  <a:fillRect l="-1039" t="-6667" b="-26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el 4">
            <a:extLst>
              <a:ext uri="{FF2B5EF4-FFF2-40B4-BE49-F238E27FC236}">
                <a16:creationId xmlns:a16="http://schemas.microsoft.com/office/drawing/2014/main" id="{CD8438FB-A087-5290-21F4-A78DC2D573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9704460"/>
              </p:ext>
            </p:extLst>
          </p:nvPr>
        </p:nvGraphicFramePr>
        <p:xfrm>
          <a:off x="1819656" y="4636047"/>
          <a:ext cx="2014728" cy="111252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490728">
                  <a:extLst>
                    <a:ext uri="{9D8B030D-6E8A-4147-A177-3AD203B41FA5}">
                      <a16:colId xmlns:a16="http://schemas.microsoft.com/office/drawing/2014/main" val="4197559507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2150368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4903658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535725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9354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8681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8704538"/>
                  </a:ext>
                </a:extLst>
              </a:tr>
            </a:tbl>
          </a:graphicData>
        </a:graphic>
      </p:graphicFrame>
      <p:grpSp>
        <p:nvGrpSpPr>
          <p:cNvPr id="31" name="Groep 30">
            <a:extLst>
              <a:ext uri="{FF2B5EF4-FFF2-40B4-BE49-F238E27FC236}">
                <a16:creationId xmlns:a16="http://schemas.microsoft.com/office/drawing/2014/main" id="{D114A988-82ED-F6F3-0BDE-E828FA6C6CE7}"/>
              </a:ext>
            </a:extLst>
          </p:cNvPr>
          <p:cNvGrpSpPr/>
          <p:nvPr/>
        </p:nvGrpSpPr>
        <p:grpSpPr>
          <a:xfrm>
            <a:off x="1268534" y="4660431"/>
            <a:ext cx="2553658" cy="1112520"/>
            <a:chOff x="1174046" y="1701928"/>
            <a:chExt cx="2553658" cy="1112520"/>
          </a:xfrm>
        </p:grpSpPr>
        <p:sp>
          <p:nvSpPr>
            <p:cNvPr id="32" name="Vierkante haken 31">
              <a:extLst>
                <a:ext uri="{FF2B5EF4-FFF2-40B4-BE49-F238E27FC236}">
                  <a16:creationId xmlns:a16="http://schemas.microsoft.com/office/drawing/2014/main" id="{06F2BAB2-AEA4-BFA1-61F0-76F4594595C9}"/>
                </a:ext>
              </a:extLst>
            </p:cNvPr>
            <p:cNvSpPr/>
            <p:nvPr/>
          </p:nvSpPr>
          <p:spPr>
            <a:xfrm>
              <a:off x="1716024" y="1701928"/>
              <a:ext cx="2011680" cy="1112520"/>
            </a:xfrm>
            <a:prstGeom prst="bracketPair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kstvak 32">
              <a:extLst>
                <a:ext uri="{FF2B5EF4-FFF2-40B4-BE49-F238E27FC236}">
                  <a16:creationId xmlns:a16="http://schemas.microsoft.com/office/drawing/2014/main" id="{110273FA-6C7A-A56A-592F-5FC7828A9813}"/>
                </a:ext>
              </a:extLst>
            </p:cNvPr>
            <p:cNvSpPr txBox="1"/>
            <p:nvPr/>
          </p:nvSpPr>
          <p:spPr>
            <a:xfrm>
              <a:off x="1174046" y="2073522"/>
              <a:ext cx="588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Arial" panose="020B0604020202020204" pitchFamily="34" charset="0"/>
                  <a:cs typeface="Arial" panose="020B0604020202020204" pitchFamily="34" charset="0"/>
                </a:rPr>
                <a:t>A = </a:t>
              </a:r>
            </a:p>
          </p:txBody>
        </p:sp>
      </p:grpSp>
      <p:cxnSp>
        <p:nvCxnSpPr>
          <p:cNvPr id="34" name="Rechte verbindingslijn met pijl 33">
            <a:extLst>
              <a:ext uri="{FF2B5EF4-FFF2-40B4-BE49-F238E27FC236}">
                <a16:creationId xmlns:a16="http://schemas.microsoft.com/office/drawing/2014/main" id="{F8A25972-C25B-28EA-34A7-BCBF50267E2A}"/>
              </a:ext>
            </a:extLst>
          </p:cNvPr>
          <p:cNvCxnSpPr>
            <a:cxnSpLocks/>
          </p:cNvCxnSpPr>
          <p:nvPr/>
        </p:nvCxnSpPr>
        <p:spPr>
          <a:xfrm>
            <a:off x="4323408" y="5216691"/>
            <a:ext cx="6583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kstvak 34">
            <a:extLst>
              <a:ext uri="{FF2B5EF4-FFF2-40B4-BE49-F238E27FC236}">
                <a16:creationId xmlns:a16="http://schemas.microsoft.com/office/drawing/2014/main" id="{6BD20813-08E0-4D51-2EB3-6CBB97527476}"/>
              </a:ext>
            </a:extLst>
          </p:cNvPr>
          <p:cNvSpPr txBox="1"/>
          <p:nvPr/>
        </p:nvSpPr>
        <p:spPr>
          <a:xfrm>
            <a:off x="904322" y="6166566"/>
            <a:ext cx="310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= matrix met 1 kolom</a:t>
            </a:r>
          </a:p>
        </p:txBody>
      </p:sp>
    </p:spTree>
    <p:extLst>
      <p:ext uri="{BB962C8B-B14F-4D97-AF65-F5344CB8AC3E}">
        <p14:creationId xmlns:p14="http://schemas.microsoft.com/office/powerpoint/2010/main" val="397964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97AA05-8E8D-284B-83E1-9268C618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Voorbeeld 1</a:t>
            </a:r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BED52D84-55AA-8C98-543E-96AC08331D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552395"/>
              </p:ext>
            </p:extLst>
          </p:nvPr>
        </p:nvGraphicFramePr>
        <p:xfrm>
          <a:off x="981456" y="3207891"/>
          <a:ext cx="3883152" cy="2685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0788">
                  <a:extLst>
                    <a:ext uri="{9D8B030D-6E8A-4147-A177-3AD203B41FA5}">
                      <a16:colId xmlns:a16="http://schemas.microsoft.com/office/drawing/2014/main" val="1938024783"/>
                    </a:ext>
                  </a:extLst>
                </a:gridCol>
                <a:gridCol w="970788">
                  <a:extLst>
                    <a:ext uri="{9D8B030D-6E8A-4147-A177-3AD203B41FA5}">
                      <a16:colId xmlns:a16="http://schemas.microsoft.com/office/drawing/2014/main" val="336427478"/>
                    </a:ext>
                  </a:extLst>
                </a:gridCol>
                <a:gridCol w="970788">
                  <a:extLst>
                    <a:ext uri="{9D8B030D-6E8A-4147-A177-3AD203B41FA5}">
                      <a16:colId xmlns:a16="http://schemas.microsoft.com/office/drawing/2014/main" val="1966206185"/>
                    </a:ext>
                  </a:extLst>
                </a:gridCol>
                <a:gridCol w="970788">
                  <a:extLst>
                    <a:ext uri="{9D8B030D-6E8A-4147-A177-3AD203B41FA5}">
                      <a16:colId xmlns:a16="http://schemas.microsoft.com/office/drawing/2014/main" val="1305549669"/>
                    </a:ext>
                  </a:extLst>
                </a:gridCol>
              </a:tblGrid>
              <a:tr h="383631">
                <a:tc>
                  <a:txBody>
                    <a:bodyPr/>
                    <a:lstStyle/>
                    <a:p>
                      <a:pPr algn="ctr"/>
                      <a:endParaRPr lang="nl-N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Vmbo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Vwo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789255"/>
                  </a:ext>
                </a:extLst>
              </a:tr>
              <a:tr h="383631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63218"/>
                  </a:ext>
                </a:extLst>
              </a:tr>
              <a:tr h="383631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611613"/>
                  </a:ext>
                </a:extLst>
              </a:tr>
              <a:tr h="383631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537279"/>
                  </a:ext>
                </a:extLst>
              </a:tr>
              <a:tr h="383631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500287"/>
                  </a:ext>
                </a:extLst>
              </a:tr>
              <a:tr h="383631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29307"/>
                  </a:ext>
                </a:extLst>
              </a:tr>
              <a:tr h="383631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792815"/>
                  </a:ext>
                </a:extLst>
              </a:tr>
            </a:tbl>
          </a:graphicData>
        </a:graphic>
      </p:graphicFrame>
      <p:sp>
        <p:nvSpPr>
          <p:cNvPr id="5" name="Tekstvak 4">
            <a:extLst>
              <a:ext uri="{FF2B5EF4-FFF2-40B4-BE49-F238E27FC236}">
                <a16:creationId xmlns:a16="http://schemas.microsoft.com/office/drawing/2014/main" id="{A8CADBE0-3FC3-38F8-E009-760676ACAB42}"/>
              </a:ext>
            </a:extLst>
          </p:cNvPr>
          <p:cNvSpPr txBox="1"/>
          <p:nvPr/>
        </p:nvSpPr>
        <p:spPr>
          <a:xfrm>
            <a:off x="847344" y="2153412"/>
            <a:ext cx="11207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Op een middelbare school in Enschede zijn er 3 verschillende niveaus. Bij elk niveau horen verschillende jaarlagen. In de tabel hieronder zie je het aantal leerlingen per klas en niveau. Hoe zou je deze informatie in een matrix zetten?</a:t>
            </a:r>
          </a:p>
        </p:txBody>
      </p: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71F419F8-2DDC-68CD-8908-57FE69DDF44C}"/>
              </a:ext>
            </a:extLst>
          </p:cNvPr>
          <p:cNvCxnSpPr>
            <a:cxnSpLocks/>
          </p:cNvCxnSpPr>
          <p:nvPr/>
        </p:nvCxnSpPr>
        <p:spPr>
          <a:xfrm>
            <a:off x="6006084" y="4550599"/>
            <a:ext cx="6583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el 4">
            <a:extLst>
              <a:ext uri="{FF2B5EF4-FFF2-40B4-BE49-F238E27FC236}">
                <a16:creationId xmlns:a16="http://schemas.microsoft.com/office/drawing/2014/main" id="{9F144283-22EF-0EF6-94E5-6C86EA1696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3459338"/>
              </p:ext>
            </p:extLst>
          </p:nvPr>
        </p:nvGraphicFramePr>
        <p:xfrm>
          <a:off x="7815072" y="3265929"/>
          <a:ext cx="2097024" cy="230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008">
                  <a:extLst>
                    <a:ext uri="{9D8B030D-6E8A-4147-A177-3AD203B41FA5}">
                      <a16:colId xmlns:a16="http://schemas.microsoft.com/office/drawing/2014/main" val="336427478"/>
                    </a:ext>
                  </a:extLst>
                </a:gridCol>
                <a:gridCol w="699008">
                  <a:extLst>
                    <a:ext uri="{9D8B030D-6E8A-4147-A177-3AD203B41FA5}">
                      <a16:colId xmlns:a16="http://schemas.microsoft.com/office/drawing/2014/main" val="1966206185"/>
                    </a:ext>
                  </a:extLst>
                </a:gridCol>
                <a:gridCol w="699008">
                  <a:extLst>
                    <a:ext uri="{9D8B030D-6E8A-4147-A177-3AD203B41FA5}">
                      <a16:colId xmlns:a16="http://schemas.microsoft.com/office/drawing/2014/main" val="1305549669"/>
                    </a:ext>
                  </a:extLst>
                </a:gridCol>
              </a:tblGrid>
              <a:tr h="383625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63218"/>
                  </a:ext>
                </a:extLst>
              </a:tr>
              <a:tr h="383625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611613"/>
                  </a:ext>
                </a:extLst>
              </a:tr>
              <a:tr h="383625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537279"/>
                  </a:ext>
                </a:extLst>
              </a:tr>
              <a:tr h="383625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500287"/>
                  </a:ext>
                </a:extLst>
              </a:tr>
              <a:tr h="383625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29307"/>
                  </a:ext>
                </a:extLst>
              </a:tr>
              <a:tr h="383625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792815"/>
                  </a:ext>
                </a:extLst>
              </a:tr>
            </a:tbl>
          </a:graphicData>
        </a:graphic>
      </p:graphicFrame>
      <p:sp>
        <p:nvSpPr>
          <p:cNvPr id="9" name="Vierkante haken 8">
            <a:extLst>
              <a:ext uri="{FF2B5EF4-FFF2-40B4-BE49-F238E27FC236}">
                <a16:creationId xmlns:a16="http://schemas.microsoft.com/office/drawing/2014/main" id="{D9FA90F5-57E5-0EFE-C9F1-08614371D219}"/>
              </a:ext>
            </a:extLst>
          </p:cNvPr>
          <p:cNvSpPr/>
          <p:nvPr/>
        </p:nvSpPr>
        <p:spPr>
          <a:xfrm>
            <a:off x="7815072" y="3294258"/>
            <a:ext cx="2097024" cy="2289594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C625E4E4-8D03-7397-DF6A-692913CDF4B9}"/>
              </a:ext>
            </a:extLst>
          </p:cNvPr>
          <p:cNvSpPr txBox="1"/>
          <p:nvPr/>
        </p:nvSpPr>
        <p:spPr>
          <a:xfrm>
            <a:off x="6096000" y="6063015"/>
            <a:ext cx="562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Wat geven de rijen en kolommen aan in deze matrix?</a:t>
            </a:r>
          </a:p>
        </p:txBody>
      </p:sp>
    </p:spTree>
    <p:extLst>
      <p:ext uri="{BB962C8B-B14F-4D97-AF65-F5344CB8AC3E}">
        <p14:creationId xmlns:p14="http://schemas.microsoft.com/office/powerpoint/2010/main" val="45729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8349F-4C4A-CF40-6DD5-99C7C852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Voorbeeld 2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BBC1604-2001-9E61-81E4-6E6991F0056D}"/>
              </a:ext>
            </a:extLst>
          </p:cNvPr>
          <p:cNvSpPr txBox="1"/>
          <p:nvPr/>
        </p:nvSpPr>
        <p:spPr>
          <a:xfrm>
            <a:off x="838200" y="2299141"/>
            <a:ext cx="10988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In een heel klein dorp staan 5 huizen. Deze huizen zijn verbonden door wegen. Dit kunnen we weergeven in een schema zoals hieronder. Zo’n schematische tekening noemen we een </a:t>
            </a:r>
            <a:r>
              <a:rPr lang="nl-NL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netwerk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82DFC0B-C0E2-2B03-8C85-9B1D518840C5}"/>
              </a:ext>
            </a:extLst>
          </p:cNvPr>
          <p:cNvSpPr txBox="1"/>
          <p:nvPr/>
        </p:nvSpPr>
        <p:spPr>
          <a:xfrm>
            <a:off x="838200" y="2972956"/>
            <a:ext cx="553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Hoe zou je dit netwerk weergeven in een matrix?</a:t>
            </a:r>
          </a:p>
        </p:txBody>
      </p: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78472E89-C7D7-B88C-DD87-FD63A724E797}"/>
              </a:ext>
            </a:extLst>
          </p:cNvPr>
          <p:cNvCxnSpPr>
            <a:cxnSpLocks/>
          </p:cNvCxnSpPr>
          <p:nvPr/>
        </p:nvCxnSpPr>
        <p:spPr>
          <a:xfrm>
            <a:off x="5673852" y="4423233"/>
            <a:ext cx="6583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el 7">
            <a:extLst>
              <a:ext uri="{FF2B5EF4-FFF2-40B4-BE49-F238E27FC236}">
                <a16:creationId xmlns:a16="http://schemas.microsoft.com/office/drawing/2014/main" id="{F07A21D3-6FDE-823D-CAF5-C03779EB2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48813"/>
              </p:ext>
            </p:extLst>
          </p:nvPr>
        </p:nvGraphicFramePr>
        <p:xfrm>
          <a:off x="7353036" y="4074585"/>
          <a:ext cx="2697480" cy="1861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496">
                  <a:extLst>
                    <a:ext uri="{9D8B030D-6E8A-4147-A177-3AD203B41FA5}">
                      <a16:colId xmlns:a16="http://schemas.microsoft.com/office/drawing/2014/main" val="3072693227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891072691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2888297911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2788782288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2958562355"/>
                    </a:ext>
                  </a:extLst>
                </a:gridCol>
              </a:tblGrid>
              <a:tr h="372258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932275"/>
                  </a:ext>
                </a:extLst>
              </a:tr>
              <a:tr h="372258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769980"/>
                  </a:ext>
                </a:extLst>
              </a:tr>
              <a:tr h="372258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850561"/>
                  </a:ext>
                </a:extLst>
              </a:tr>
              <a:tr h="372258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841723"/>
                  </a:ext>
                </a:extLst>
              </a:tr>
              <a:tr h="372258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393613"/>
                  </a:ext>
                </a:extLst>
              </a:tr>
            </a:tbl>
          </a:graphicData>
        </a:graphic>
      </p:graphicFrame>
      <p:sp>
        <p:nvSpPr>
          <p:cNvPr id="8" name="Vierkante haken 7">
            <a:extLst>
              <a:ext uri="{FF2B5EF4-FFF2-40B4-BE49-F238E27FC236}">
                <a16:creationId xmlns:a16="http://schemas.microsoft.com/office/drawing/2014/main" id="{757DBF8C-F65B-E44B-E4E4-744CC9DB1572}"/>
              </a:ext>
            </a:extLst>
          </p:cNvPr>
          <p:cNvSpPr/>
          <p:nvPr/>
        </p:nvSpPr>
        <p:spPr>
          <a:xfrm>
            <a:off x="7336536" y="4096444"/>
            <a:ext cx="2697480" cy="1861290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4051124B-47D3-D673-7FDB-6A4077EEFD7D}"/>
              </a:ext>
            </a:extLst>
          </p:cNvPr>
          <p:cNvSpPr txBox="1"/>
          <p:nvPr/>
        </p:nvSpPr>
        <p:spPr>
          <a:xfrm>
            <a:off x="5821680" y="6108035"/>
            <a:ext cx="562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Wat geven de rijen en kolommen aan in deze matrix?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6368FDA-119E-AD5D-4487-69FB6412A1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76" y="3509468"/>
            <a:ext cx="3718560" cy="30352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487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E9B1D-9F62-BC0C-44C7-3DC2563D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Huiswerk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22BE13-8234-1EC2-28D5-214B994E7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Opdracht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2 op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blz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8 van het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boek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‘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Lesmateriaal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AI’.</a:t>
            </a:r>
          </a:p>
        </p:txBody>
      </p:sp>
    </p:spTree>
    <p:extLst>
      <p:ext uri="{BB962C8B-B14F-4D97-AF65-F5344CB8AC3E}">
        <p14:creationId xmlns:p14="http://schemas.microsoft.com/office/powerpoint/2010/main" val="214995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2644B-D2D8-3E06-3311-77DE8BD6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Vooruitblik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E91674-86BE-FB4C-0565-48198B33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Na het </a:t>
            </a:r>
            <a:r>
              <a:rPr lang="en-GB" u="sng" dirty="0" err="1">
                <a:latin typeface="Arial" panose="020B0604020202020204" pitchFamily="34" charset="0"/>
                <a:cs typeface="Arial" panose="020B0604020202020204" pitchFamily="34" charset="0"/>
              </a:rPr>
              <a:t>huiswerk</a:t>
            </a:r>
            <a:endParaRPr lang="en-GB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uitleggen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wat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matrix is.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matrix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toepassen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verschillende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situaties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u="sng" dirty="0" err="1">
                <a:latin typeface="Arial" panose="020B0604020202020204" pitchFamily="34" charset="0"/>
                <a:cs typeface="Arial" panose="020B0604020202020204" pitchFamily="34" charset="0"/>
              </a:rPr>
              <a:t>Volgende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 les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Hoe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ziet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computer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beeld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Lijnen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herkennen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door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middel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convolutie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89327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3566</TotalTime>
  <Words>399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Gill Sans MT</vt:lpstr>
      <vt:lpstr>Parcel</vt:lpstr>
      <vt:lpstr>Matrices</vt:lpstr>
      <vt:lpstr>Leerdoelen</vt:lpstr>
      <vt:lpstr>Voorkennis</vt:lpstr>
      <vt:lpstr>Nieuwe theorie</vt:lpstr>
      <vt:lpstr>Voorbeeld 1</vt:lpstr>
      <vt:lpstr>Voorbeeld 2</vt:lpstr>
      <vt:lpstr>Huiswerk</vt:lpstr>
      <vt:lpstr>Vooruitblik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Baak, S.W.M. (Sam, Student B-AM)</dc:creator>
  <cp:lastModifiedBy>Stegehuis, Clara (UT-EEMCS)</cp:lastModifiedBy>
  <cp:revision>22</cp:revision>
  <dcterms:created xsi:type="dcterms:W3CDTF">2025-10-15T12:25:37Z</dcterms:created>
  <dcterms:modified xsi:type="dcterms:W3CDTF">2025-11-03T13:03:25Z</dcterms:modified>
</cp:coreProperties>
</file>